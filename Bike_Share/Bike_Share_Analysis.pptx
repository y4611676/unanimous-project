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8BB8CC"/>
                </a:solidFill>
                <a:latin typeface="Arial"/>
              </a:defRPr>
            </a:pPr>
            <a:r>
              <a:rPr sz="1100" b="0" i="0" u="none" strike="noStrike">
                <a:solidFill>
                  <a:srgbClr val="8BB8CC"/>
                </a:solidFill>
                <a:latin typeface="Arial"/>
              </a:rPr>
              <a:t>Average Ride Length by Day (minutes)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Casual</c:v>
                </c:pt>
              </c:strCache>
            </c:strRef>
          </c:tx>
          <c:spPr>
            <a:solidFill>
              <a:srgbClr val="02C39A"/>
            </a:solidFill>
            <a:ln w="3810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Sun</c:v>
                  </c:pt>
                  <c:pt idx="1">
                    <c:v>Mon</c:v>
                  </c:pt>
                  <c:pt idx="2">
                    <c:v>Tue</c:v>
                  </c:pt>
                  <c:pt idx="3">
                    <c:v>Wed</c:v>
                  </c:pt>
                  <c:pt idx="4">
                    <c:v>Thu</c:v>
                  </c:pt>
                  <c:pt idx="5">
                    <c:v>Fri</c:v>
                  </c:pt>
                  <c:pt idx="6">
                    <c:v>Sat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</c:v>
                </c:pt>
                <c:pt idx="1">
                  <c:v>19</c:v>
                </c:pt>
                <c:pt idx="2">
                  <c:v>18</c:v>
                </c:pt>
                <c:pt idx="3">
                  <c:v>18</c:v>
                </c:pt>
                <c:pt idx="4">
                  <c:v>19</c:v>
                </c:pt>
                <c:pt idx="5">
                  <c:v>21</c:v>
                </c:pt>
                <c:pt idx="6">
                  <c:v>27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Member</c:v>
                </c:pt>
              </c:strCache>
            </c:strRef>
          </c:tx>
          <c:spPr>
            <a:solidFill>
              <a:srgbClr val="1C7293"/>
            </a:solidFill>
            <a:ln w="3810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Sun</c:v>
                  </c:pt>
                  <c:pt idx="1">
                    <c:v>Mon</c:v>
                  </c:pt>
                  <c:pt idx="2">
                    <c:v>Tue</c:v>
                  </c:pt>
                  <c:pt idx="3">
                    <c:v>Wed</c:v>
                  </c:pt>
                  <c:pt idx="4">
                    <c:v>Thu</c:v>
                  </c:pt>
                  <c:pt idx="5">
                    <c:v>Fri</c:v>
                  </c:pt>
                  <c:pt idx="6">
                    <c:v>Sat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14</c:v>
                </c:pt>
                <c:pt idx="1">
                  <c:v>12</c:v>
                </c:pt>
                <c:pt idx="2">
                  <c:v>12</c:v>
                </c:pt>
                <c:pt idx="3">
                  <c:v>12</c:v>
                </c:pt>
                <c:pt idx="4">
                  <c:v>12</c:v>
                </c:pt>
                <c:pt idx="5">
                  <c:v>13</c:v>
                </c:pt>
                <c:pt idx="6">
                  <c:v>14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B8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0A3A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B8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8BB8C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2E4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8BB8C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8BB8CC"/>
                </a:solidFill>
                <a:latin typeface="Arial"/>
              </a:rPr>
              <a:t>Casual Riders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Casual Bike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065A8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Classic</c:v>
                </c:pt>
                <c:pt idx="1">
                  <c:v>Electric</c:v>
                </c:pt>
                <c:pt idx="2">
                  <c:v>Docked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49</c:v>
                </c:pt>
                <c:pt idx="1">
                  <c:v>33</c:v>
                </c:pt>
                <c:pt idx="2">
                  <c:v>18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8BB8C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2E4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8BB8C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8BB8CC"/>
                </a:solidFill>
                <a:latin typeface="Arial"/>
              </a:rPr>
              <a:t>Annual Members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Member Bike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065A8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Classic</c:v>
                </c:pt>
                <c:pt idx="1">
                  <c:v>Electric</c:v>
                </c:pt>
                <c:pt idx="2">
                  <c:v>Docked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60</c:v>
                </c:pt>
                <c:pt idx="1">
                  <c:v>40</c:v>
                </c:pt>
                <c:pt idx="2">
                  <c:v>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8BB8C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2E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2286000"/>
            <a:ext cx="2560320" cy="256032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</a:rPr>
              <a:t>PORTFOLIO PROJECT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Bike Share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Rider Analysis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B8CC"/>
                </a:solidFill>
              </a:rPr>
              <a:t>How do casual riders and annual members use bikes differently?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2560320" cy="91440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9502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10,000+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8CC"/>
                </a:solidFill>
              </a:rPr>
              <a:t>Bikes Analyzed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3931920"/>
            <a:ext cx="2560320" cy="91440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39502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1,000+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9184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8CC"/>
                </a:solidFill>
              </a:rPr>
              <a:t>Stations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3931920"/>
            <a:ext cx="2560320" cy="91440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39502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2023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12648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8CC"/>
                </a:solidFill>
              </a:rPr>
              <a:t>Full Year Data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</a:rPr>
              <a:t>SCENARIO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Business Problem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114800" cy="338328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41148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00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Goal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B8CC"/>
                </a:solidFill>
              </a:rPr>
              <a:t>Cyclistic wants to convert casual riders into annual members — because annual memberships are far more profitable.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Our job as analysts: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B8CC"/>
                </a:solidFill>
              </a:rPr>
              <a:t>Find the behavioral differences between the two groups — and turn those findings into a targeted marketing strategy.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4023360" cy="160020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463040"/>
            <a:ext cx="64008" cy="1600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Casual Riders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0574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8CC"/>
                </a:solidFill>
              </a:rPr>
              <a:t>Fewer, longer rides — mostly weekends and leisure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200400"/>
            <a:ext cx="4023360" cy="160020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3200400"/>
            <a:ext cx="64008" cy="1600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Annual Members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7947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8CC"/>
                </a:solidFill>
              </a:rPr>
              <a:t>Frequent, shorter rides — consistent throughout the week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</a:rPr>
              <a:t>USAGE PATTERNS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Each Group Rides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41732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417320"/>
            <a:ext cx="2926080" cy="105156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0" y="1417320"/>
            <a:ext cx="64008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6126480" y="1508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2×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12648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B8CC"/>
                </a:solidFill>
              </a:rPr>
              <a:t>Casual riders average twice the ride duration of members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0" y="2606040"/>
            <a:ext cx="2926080" cy="105156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2606040"/>
            <a:ext cx="64008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2697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Weekend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12648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B8CC"/>
                </a:solidFill>
              </a:rPr>
              <a:t>Casual rides peak on weekends; member rides stay flat all week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0" y="3794760"/>
            <a:ext cx="2926080" cy="105156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43600" y="3794760"/>
            <a:ext cx="64008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3"/>
          <p:cNvSpPr/>
          <p:nvPr/>
        </p:nvSpPr>
        <p:spPr>
          <a:xfrm>
            <a:off x="6126480" y="3886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Summer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126480" y="4297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B8CC"/>
                </a:solidFill>
              </a:rPr>
              <a:t>Both groups peak in summer — June through August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</a:rPr>
              <a:t>BIKE PREFERENCES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Each Group Rides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417320"/>
          <a:ext cx="39319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572000" y="1417320"/>
          <a:ext cx="39319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4572000"/>
            <a:ext cx="8138160" cy="365760"/>
          </a:xfrm>
          <a:prstGeom prst="rect">
            <a:avLst/>
          </a:prstGeom>
          <a:solidFill>
            <a:srgbClr val="0A2E42"/>
          </a:solidFill>
          <a:ln/>
        </p:spPr>
      </p:sp>
      <p:sp>
        <p:nvSpPr>
          <p:cNvPr id="8" name="Text 4"/>
          <p:cNvSpPr/>
          <p:nvPr/>
        </p:nvSpPr>
        <p:spPr>
          <a:xfrm>
            <a:off x="548640" y="4617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B8CC"/>
                </a:solidFill>
              </a:rPr>
              <a:t>Key insight: Only casual riders use docked bikes — members never do. Members use electric bikes twice as often as casual riders.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</a:rPr>
              <a:t>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Converting Casual Riders to Members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8412480" cy="105156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64008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819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2588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Weekend Membership Promotions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8CC"/>
                </a:solidFill>
              </a:rPr>
              <a:t>Casual riders peak on weekends. Target them with trial membership offers on Saturday and Sunday — specifically at docking stations near parks and tourist areas.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651760"/>
            <a:ext cx="8412480" cy="105156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651760"/>
            <a:ext cx="64008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7249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32588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Seasonal Campaigns in Summer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3154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8CC"/>
                </a:solidFill>
              </a:rPr>
              <a:t>Both groups ride most in summer. Launch annual membership deals in May–June before peak season hits, when casual riders are most active and motivated.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794760"/>
            <a:ext cx="8412480" cy="105156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794760"/>
            <a:ext cx="64008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679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32588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Highlight Cost Savings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297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8CC"/>
                </a:solidFill>
              </a:rPr>
              <a:t>Show casual riders how many rides they take per season versus the cost of a membership. For frequent casual users, annual membership often pays for itself in 8–10 rides.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1371600"/>
            <a:ext cx="4572000" cy="4572000"/>
          </a:xfrm>
          <a:prstGeom prst="ellipse">
            <a:avLst/>
          </a:prstGeom>
          <a:solidFill>
            <a:srgbClr val="02C39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</a:rPr>
              <a:t>TOOLS USED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8BB8CC"/>
                </a:solidFill>
              </a:rPr>
              <a:t>Python (Pandas, DuckDB, Matplotlib, Seaborn)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8BB8CC"/>
                </a:solidFill>
              </a:rPr>
              <a:t>Jupyter Notebook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8BB8CC"/>
                </a:solidFill>
              </a:rPr>
              <a:t>Divvy Tripdata (2023 Public Dataset)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8BB8CC"/>
                </a:solidFill>
              </a:rPr>
              <a:t>SQL queries via DuckDB for large dataset handling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Have a dataset and a business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question? Let's talk.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B8CC"/>
                </a:solidFill>
              </a:rPr>
              <a:t>One-time delivery · No maintenance required · Results in plain English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 Share Analysis</dc:title>
  <dc:subject>PptxGenJS Presentation</dc:subject>
  <dc:creator>PptxGenJS</dc:creator>
  <cp:lastModifiedBy>PptxGenJS</cp:lastModifiedBy>
  <cp:revision>1</cp:revision>
  <dcterms:created xsi:type="dcterms:W3CDTF">2026-04-11T06:51:05Z</dcterms:created>
  <dcterms:modified xsi:type="dcterms:W3CDTF">2026-04-11T06:51:05Z</dcterms:modified>
</cp:coreProperties>
</file>