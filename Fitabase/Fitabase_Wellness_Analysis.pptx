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8BB8CC"/>
                </a:solidFill>
                <a:latin typeface="Arial"/>
              </a:defRPr>
            </a:pPr>
            <a:r>
              <a:rPr sz="1100" b="0" i="0" u="none" strike="noStrike">
                <a:solidFill>
                  <a:srgbClr val="8BB8CC"/>
                </a:solidFill>
                <a:latin typeface="Arial"/>
              </a:rPr>
              <a:t>Average Daily Steps by Day of Week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Steps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C7293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2C39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2C39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C7293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C7293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1C7293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1C7293"/>
              </a:solidFill>
              <a:effectLst/>
            </c:spPr>
          </c:dPt>
          <c:cat>
            <c:multiLvlStrRef>
              <c:f>Sheet1!$A$2:$A$8</c:f>
              <c:multiLvlStrCache>
                <c:ptCount val="7"/>
                <c:lvl>
                  <c:pt idx="0">
                    <c:v>Sun</c:v>
                  </c:pt>
                  <c:pt idx="1">
                    <c:v>Mon</c:v>
                  </c:pt>
                  <c:pt idx="2">
                    <c:v>Tue</c:v>
                  </c:pt>
                  <c:pt idx="3">
                    <c:v>Wed</c:v>
                  </c:pt>
                  <c:pt idx="4">
                    <c:v>Thu</c:v>
                  </c:pt>
                  <c:pt idx="5">
                    <c:v>Fri</c:v>
                  </c:pt>
                  <c:pt idx="6">
                    <c:v>Sat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6933</c:v>
                </c:pt>
                <c:pt idx="1">
                  <c:v>7781</c:v>
                </c:pt>
                <c:pt idx="2">
                  <c:v>8125</c:v>
                </c:pt>
                <c:pt idx="3">
                  <c:v>7559</c:v>
                </c:pt>
                <c:pt idx="4">
                  <c:v>7592</c:v>
                </c:pt>
                <c:pt idx="5">
                  <c:v>7448</c:v>
                </c:pt>
                <c:pt idx="6">
                  <c:v>7537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B8C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0A3A5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B8C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0A2E42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8BB8CC"/>
                </a:solidFill>
                <a:latin typeface="Arial"/>
              </a:defRPr>
            </a:pPr>
            <a:r>
              <a:rPr sz="1100" b="0" i="0" u="none" strike="noStrike">
                <a:solidFill>
                  <a:srgbClr val="8BB8CC"/>
                </a:solidFill>
                <a:latin typeface="Arial"/>
              </a:rPr>
              <a:t>Average Day: Activity Breakdown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Daily Activity Breakdown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334155"/>
              </a:solidFill>
              <a:effectLst/>
            </c:spPr>
          </c:dPt>
          <c:dPt>
            <c:idx val="1"/>
            <c:bubble3D val="0"/>
            <c:spPr>
              <a:solidFill>
                <a:srgbClr val="1C7293"/>
              </a:solidFill>
              <a:effectLst/>
            </c:spPr>
          </c:dPt>
          <c:dPt>
            <c:idx val="2"/>
            <c:bubble3D val="0"/>
            <c:spPr>
              <a:solidFill>
                <a:srgbClr val="065A82"/>
              </a:solidFill>
              <a:effectLst/>
            </c:spPr>
          </c:dPt>
          <c:dPt>
            <c:idx val="3"/>
            <c:bubble3D val="0"/>
            <c:spPr>
              <a:solidFill>
                <a:srgbClr val="02C39A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Sedentary</c:v>
                </c:pt>
                <c:pt idx="1">
                  <c:v>Lightly Active</c:v>
                </c:pt>
                <c:pt idx="2">
                  <c:v>Fairly Active</c:v>
                </c:pt>
                <c:pt idx="3">
                  <c:v>Very Active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81</c:v>
                </c:pt>
                <c:pt idx="1">
                  <c:v>16</c:v>
                </c:pt>
                <c:pt idx="2">
                  <c:v>1</c:v>
                </c:pt>
                <c:pt idx="3">
                  <c:v>2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solidFill>
                <a:srgbClr val="8BB8CC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0A2E42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Shape 1"/>
          <p:cNvSpPr/>
          <p:nvPr/>
        </p:nvSpPr>
        <p:spPr>
          <a:xfrm>
            <a:off x="6583680" y="-731520"/>
            <a:ext cx="4114800" cy="4114800"/>
          </a:xfrm>
          <a:prstGeom prst="ellipse">
            <a:avLst/>
          </a:prstGeom>
          <a:solidFill>
            <a:srgbClr val="065A82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132320" y="2286000"/>
            <a:ext cx="2560320" cy="2560320"/>
          </a:xfrm>
          <a:prstGeom prst="ellipse">
            <a:avLst/>
          </a:prstGeom>
          <a:solidFill>
            <a:srgbClr val="1C7293">
              <a:alpha val="3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8229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2C39A"/>
                </a:solidFill>
              </a:rPr>
              <a:t>PORTFOLIO PROJECT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280160"/>
            <a:ext cx="7315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Smart Device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Wellness Analysis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457200" y="32004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BB8CC"/>
                </a:solidFill>
              </a:rPr>
              <a:t>How can a wellness technology company play it smart?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3931920"/>
            <a:ext cx="2560320" cy="914400"/>
          </a:xfrm>
          <a:prstGeom prst="rect">
            <a:avLst/>
          </a:prstGeom>
          <a:solidFill>
            <a:srgbClr val="0A2E42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" y="395020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2C39A"/>
                </a:solidFill>
              </a:rPr>
              <a:t>30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57200" y="43434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B8CC"/>
                </a:solidFill>
              </a:rPr>
              <a:t>Fitbit Users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91840" y="3931920"/>
            <a:ext cx="2560320" cy="914400"/>
          </a:xfrm>
          <a:prstGeom prst="rect">
            <a:avLst/>
          </a:prstGeom>
          <a:solidFill>
            <a:srgbClr val="0A2E42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291840" y="395020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2C39A"/>
                </a:solidFill>
              </a:rPr>
              <a:t>R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291840" y="43434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B8CC"/>
                </a:solidFill>
              </a:rPr>
              <a:t>Language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26480" y="3931920"/>
            <a:ext cx="2560320" cy="914400"/>
          </a:xfrm>
          <a:prstGeom prst="rect">
            <a:avLst/>
          </a:prstGeom>
          <a:solidFill>
            <a:srgbClr val="0A2E42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126480" y="395020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2C39A"/>
                </a:solidFill>
              </a:rPr>
              <a:t>FitBit Data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126480" y="43434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B8CC"/>
                </a:solidFill>
              </a:rPr>
              <a:t>Source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2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2C39A"/>
                </a:solidFill>
              </a:rPr>
              <a:t>SCENARIO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Three Business Questions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508760"/>
            <a:ext cx="8412480" cy="1051560"/>
          </a:xfrm>
          <a:prstGeom prst="rect">
            <a:avLst/>
          </a:prstGeom>
          <a:solidFill>
            <a:srgbClr val="0A2E42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508760"/>
            <a:ext cx="64008" cy="105156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581912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7293"/>
                </a:solidFill>
              </a:rPr>
              <a:t>01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325880" y="16002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Smart Device Trends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25880" y="20116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B8CC"/>
                </a:solidFill>
              </a:rPr>
              <a:t>What patterns emerge from how people use fitness trackers day-to-day — activity, sleep, calories?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651760"/>
            <a:ext cx="8412480" cy="1051560"/>
          </a:xfrm>
          <a:prstGeom prst="rect">
            <a:avLst/>
          </a:prstGeom>
          <a:solidFill>
            <a:srgbClr val="0A2E42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2651760"/>
            <a:ext cx="64008" cy="105156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724912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7293"/>
                </a:solidFill>
              </a:rPr>
              <a:t>02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1325880" y="27432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Customer Application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325880" y="31546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B8CC"/>
                </a:solidFill>
              </a:rPr>
              <a:t>How do these smart device trends map to the behavior of Bellabeat's own wellness-focused customer base?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3794760"/>
            <a:ext cx="8412480" cy="1051560"/>
          </a:xfrm>
          <a:prstGeom prst="rect">
            <a:avLst/>
          </a:prstGeom>
          <a:solidFill>
            <a:srgbClr val="0A2E42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3794760"/>
            <a:ext cx="64008" cy="105156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867912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7293"/>
                </a:solidFill>
              </a:rPr>
              <a:t>03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1325880" y="38862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Marketing Strategy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325880" y="42976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B8CC"/>
                </a:solidFill>
              </a:rPr>
              <a:t>How can these insights directly inform Bellabeat's marketing decisions to increase engagement and sales?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2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2C39A"/>
                </a:solidFill>
              </a:rPr>
              <a:t>ACTIVITY PATTERNS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When Users Are Most Active</a:t>
            </a:r>
            <a:endParaRPr lang="en-US" sz="28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1417320"/>
          <a:ext cx="530352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943600" y="1417320"/>
            <a:ext cx="2926080" cy="1051560"/>
          </a:xfrm>
          <a:prstGeom prst="rect">
            <a:avLst/>
          </a:prstGeom>
          <a:solidFill>
            <a:srgbClr val="0A2E42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943600" y="1417320"/>
            <a:ext cx="64008" cy="105156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8" name="Text 5"/>
          <p:cNvSpPr/>
          <p:nvPr/>
        </p:nvSpPr>
        <p:spPr>
          <a:xfrm>
            <a:off x="6126480" y="15087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C39A"/>
                </a:solidFill>
              </a:rPr>
              <a:t>5–7 PM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6126480" y="19659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B8CC"/>
                </a:solidFill>
              </a:rPr>
              <a:t>Peak activity window after work hours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943600" y="2606040"/>
            <a:ext cx="2926080" cy="1051560"/>
          </a:xfrm>
          <a:prstGeom prst="rect">
            <a:avLst/>
          </a:prstGeom>
          <a:solidFill>
            <a:srgbClr val="0A2E42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943600" y="2606040"/>
            <a:ext cx="64008" cy="105156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2" name="Text 9"/>
          <p:cNvSpPr/>
          <p:nvPr/>
        </p:nvSpPr>
        <p:spPr>
          <a:xfrm>
            <a:off x="6126480" y="26974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C39A"/>
                </a:solidFill>
              </a:rPr>
              <a:t>12 PM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6126480" y="31546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B8CC"/>
                </a:solidFill>
              </a:rPr>
              <a:t>Secondary peak during lunch breaks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943600" y="3794760"/>
            <a:ext cx="2926080" cy="1051560"/>
          </a:xfrm>
          <a:prstGeom prst="rect">
            <a:avLst/>
          </a:prstGeom>
          <a:solidFill>
            <a:srgbClr val="0A2E42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5943600" y="3794760"/>
            <a:ext cx="64008" cy="105156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6" name="Text 13"/>
          <p:cNvSpPr/>
          <p:nvPr/>
        </p:nvSpPr>
        <p:spPr>
          <a:xfrm>
            <a:off x="6126480" y="38862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C39A"/>
                </a:solidFill>
              </a:rPr>
              <a:t>Sunday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6126480" y="43434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B8CC"/>
                </a:solidFill>
              </a:rPr>
              <a:t>Lowest step count — clear rest day pattern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2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2C39A"/>
                </a:solidFill>
              </a:rPr>
              <a:t>SLEEP &amp; SEDENTARY BEHAVIOR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Two Key Wellness Gaps</a:t>
            </a:r>
            <a:endParaRPr lang="en-US" sz="28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1417320"/>
          <a:ext cx="411480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4754880" y="1417320"/>
            <a:ext cx="4023360" cy="1051560"/>
          </a:xfrm>
          <a:prstGeom prst="rect">
            <a:avLst/>
          </a:prstGeom>
          <a:solidFill>
            <a:srgbClr val="0A2E42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754880" y="1417320"/>
            <a:ext cx="64008" cy="105156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8" name="Text 5"/>
          <p:cNvSpPr/>
          <p:nvPr/>
        </p:nvSpPr>
        <p:spPr>
          <a:xfrm>
            <a:off x="4937760" y="15087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C39A"/>
                </a:solidFill>
              </a:rPr>
              <a:t>81%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4937760" y="1947672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B8CC"/>
                </a:solidFill>
              </a:rPr>
              <a:t>of average day is sedentary — even among fitness tracker users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754880" y="2606040"/>
            <a:ext cx="4023360" cy="1051560"/>
          </a:xfrm>
          <a:prstGeom prst="rect">
            <a:avLst/>
          </a:prstGeom>
          <a:solidFill>
            <a:srgbClr val="0A2E42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54880" y="2606040"/>
            <a:ext cx="64008" cy="105156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2" name="Text 9"/>
          <p:cNvSpPr/>
          <p:nvPr/>
        </p:nvSpPr>
        <p:spPr>
          <a:xfrm>
            <a:off x="4937760" y="26974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C39A"/>
                </a:solidFill>
              </a:rPr>
              <a:t>6.9 hrs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4937760" y="3136392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B8CC"/>
                </a:solidFill>
              </a:rPr>
              <a:t>Average sleep — below recommended 7–9 hours for adults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754880" y="3794760"/>
            <a:ext cx="4023360" cy="1051560"/>
          </a:xfrm>
          <a:prstGeom prst="rect">
            <a:avLst/>
          </a:prstGeom>
          <a:solidFill>
            <a:srgbClr val="0A2E42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754880" y="3794760"/>
            <a:ext cx="64008" cy="105156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6" name="Text 13"/>
          <p:cNvSpPr/>
          <p:nvPr/>
        </p:nvSpPr>
        <p:spPr>
          <a:xfrm>
            <a:off x="4937760" y="38862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C39A"/>
                </a:solidFill>
              </a:rPr>
              <a:t>Strong link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4937760" y="4325112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B8CC"/>
                </a:solidFill>
              </a:rPr>
              <a:t>More time in bed = more actual sleep logged (near-perfect correlation)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2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2C39A"/>
                </a:solidFill>
              </a:rPr>
              <a:t>MARKETING RECOMMENDATIONS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3 Data-Driven Actions for Bellabeat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508760"/>
            <a:ext cx="8412480" cy="1051560"/>
          </a:xfrm>
          <a:prstGeom prst="rect">
            <a:avLst/>
          </a:prstGeom>
          <a:solidFill>
            <a:srgbClr val="0A2E42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508760"/>
            <a:ext cx="64008" cy="105156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581912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7293"/>
                </a:solidFill>
              </a:rPr>
              <a:t>01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325880" y="16002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Target Peak Hours with Push Notifications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25880" y="20116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B8CC"/>
                </a:solidFill>
              </a:rPr>
              <a:t>Users are most active 5–7 PM and 12 PM. Schedule motivational reminders and feature promotions during these windows to maximize engagement.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651760"/>
            <a:ext cx="8412480" cy="1051560"/>
          </a:xfrm>
          <a:prstGeom prst="rect">
            <a:avLst/>
          </a:prstGeom>
          <a:solidFill>
            <a:srgbClr val="0A2E42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2651760"/>
            <a:ext cx="64008" cy="105156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724912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7293"/>
                </a:solidFill>
              </a:rPr>
              <a:t>02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1325880" y="27432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Build a Sleep Improvement Campaign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325880" y="31546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B8CC"/>
                </a:solidFill>
              </a:rPr>
              <a:t>Average sleep is below recommended levels. A Bellabeat campaign focused on 'better sleep starts with better habits' — linking the Leaf and Time devices to bedtime reminders — directly addresses a proven gap.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3794760"/>
            <a:ext cx="8412480" cy="1051560"/>
          </a:xfrm>
          <a:prstGeom prst="rect">
            <a:avLst/>
          </a:prstGeom>
          <a:solidFill>
            <a:srgbClr val="0A2E42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3794760"/>
            <a:ext cx="64008" cy="105156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867912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7293"/>
                </a:solidFill>
              </a:rPr>
              <a:t>03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1325880" y="38862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Gamify Movement During Sedentary Hours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325880" y="42976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B8CC"/>
                </a:solidFill>
              </a:rPr>
              <a:t>81% of the average day is sedentary. Introduce hourly movement nudges and weekly streak challenges in the Bellabeat app to break sitting patterns and increase daily engagement.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2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5A82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943600" y="1371600"/>
            <a:ext cx="4572000" cy="4572000"/>
          </a:xfrm>
          <a:prstGeom prst="ellipse">
            <a:avLst/>
          </a:prstGeom>
          <a:solidFill>
            <a:srgbClr val="02C39A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5486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2C39A"/>
                </a:solidFill>
              </a:rPr>
              <a:t>TOOLS USED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005840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</a:rPr>
              <a:t>▸  </a:t>
            </a:r>
            <a:pPr indent="0" marL="0">
              <a:buNone/>
            </a:pPr>
            <a:r>
              <a:rPr lang="en-US" sz="1300" dirty="0">
                <a:solidFill>
                  <a:srgbClr val="8BB8CC"/>
                </a:solidFill>
              </a:rPr>
              <a:t>R (tidyverse, ggplot2, dplyr)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1417320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</a:rPr>
              <a:t>▸  </a:t>
            </a:r>
            <a:pPr indent="0" marL="0">
              <a:buNone/>
            </a:pPr>
            <a:r>
              <a:rPr lang="en-US" sz="1300" dirty="0">
                <a:solidFill>
                  <a:srgbClr val="8BB8CC"/>
                </a:solidFill>
              </a:rPr>
              <a:t>Visual Studio Code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1828800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</a:rPr>
              <a:t>▸  </a:t>
            </a:r>
            <a:pPr indent="0" marL="0">
              <a:buNone/>
            </a:pPr>
            <a:r>
              <a:rPr lang="en-US" sz="1300" dirty="0">
                <a:solidFill>
                  <a:srgbClr val="8BB8CC"/>
                </a:solidFill>
              </a:rPr>
              <a:t>FitBit Fitness Tracker Dataset (Kaggle / Möbius)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2240280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</a:rPr>
              <a:t>▸  </a:t>
            </a:r>
            <a:pPr indent="0" marL="0">
              <a:buNone/>
            </a:pPr>
            <a:r>
              <a:rPr lang="en-US" sz="1300" dirty="0">
                <a:solidFill>
                  <a:srgbClr val="8BB8CC"/>
                </a:solidFill>
              </a:rPr>
              <a:t>ROCCC framework for data quality assessment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283464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Have a dataset and a business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question? Let's talk.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731520" y="38404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B8CC"/>
                </a:solidFill>
              </a:rPr>
              <a:t>One-time delivery · No maintenance required · Results in plain English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Fitabase Wellness Analysis</dc:title>
  <dc:subject>PptxGenJS Presentation</dc:subject>
  <dc:creator>PptxGenJS</dc:creator>
  <cp:lastModifiedBy>PptxGenJS</cp:lastModifiedBy>
  <cp:revision>1</cp:revision>
  <dcterms:created xsi:type="dcterms:W3CDTF">2026-04-11T06:52:29Z</dcterms:created>
  <dcterms:modified xsi:type="dcterms:W3CDTF">2026-04-11T06:52:29Z</dcterms:modified>
</cp:coreProperties>
</file>